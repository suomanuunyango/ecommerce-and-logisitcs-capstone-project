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3"/>
    <p:restoredTop sz="94648"/>
  </p:normalViewPr>
  <p:slideViewPr>
    <p:cSldViewPr snapToGrid="0" snapToObjects="1">
      <p:cViewPr varScale="1">
        <p:scale>
          <a:sx n="114" d="100"/>
          <a:sy n="114" d="100"/>
        </p:scale>
        <p:origin x="200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20116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1200"/>
              </a:spcAft>
            </a:pPr>
            <a:r>
              <a:rPr sz="2200" b="1" i="0">
                <a:solidFill>
                  <a:srgbClr val="3069A0"/>
                </a:solidFill>
                <a:latin typeface="Times New Roman"/>
              </a:rPr>
              <a:t>STADIOALOT</a:t>
            </a:r>
          </a:p>
          <a:p>
            <a:pPr>
              <a:spcAft>
                <a:spcPts val="1000"/>
              </a:spcAft>
            </a:pPr>
            <a:r>
              <a:rPr sz="3400" b="1" i="0">
                <a:solidFill>
                  <a:srgbClr val="1F3046"/>
                </a:solidFill>
                <a:latin typeface="Times New Roman"/>
              </a:rPr>
              <a:t>E-commerce &amp; Logistics Project</a:t>
            </a:r>
          </a:p>
          <a:p>
            <a:r>
              <a:rPr sz="2000" b="0" i="0">
                <a:solidFill>
                  <a:srgbClr val="282D32"/>
                </a:solidFill>
                <a:latin typeface="Times New Roman"/>
              </a:rPr>
              <a:t>Predicting product returns using a Random Forest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5166360"/>
            <a:ext cx="77724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1F3046"/>
                </a:solidFill>
                <a:latin typeface="Times New Roman"/>
              </a:rPr>
              <a:t>Presenter: Suoma Nuunyango</a:t>
            </a:r>
          </a:p>
          <a:p>
            <a:pPr>
              <a:spcAft>
                <a:spcPts val="500"/>
              </a:spcAft>
            </a:pPr>
            <a:r>
              <a:rPr sz="1600" b="0" i="0">
                <a:solidFill>
                  <a:srgbClr val="1F3046"/>
                </a:solidFill>
                <a:latin typeface="Times New Roman"/>
              </a:rPr>
              <a:t>Date: 26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0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046"/>
                </a:solidFill>
                <a:latin typeface="Times New Roman"/>
              </a:rPr>
              <a:t>Stakeholders and audience 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4696E"/>
                </a:solidFill>
                <a:latin typeface="Times New Roman"/>
              </a:rPr>
              <a:t>Who is affected by product returns, and what should each group gain from the analysis?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08760"/>
            <a:ext cx="5349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bIns="91440" rtlCol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3069A0"/>
                </a:solidFill>
                <a:latin typeface="Times New Roman"/>
              </a:rPr>
              <a:t>1. Stadioalot management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282D32"/>
                </a:solidFill>
                <a:latin typeface="Times New Roman"/>
              </a:rPr>
              <a:t>Returns reduce profit margins and increase warehouse costs.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64696E"/>
                </a:solidFill>
                <a:latin typeface="Times New Roman"/>
              </a:rPr>
              <a:t>Useful next step: Use return-risk insights to prioritise prevention and improve inventory planning.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150876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bIns="91440" rtlCol="0" anchor="ctr"/>
          <a:lstStyle/>
          <a:p>
            <a:pPr algn="ctr">
              <a:spcAft>
                <a:spcPts val="600"/>
              </a:spcAft>
            </a:pPr>
            <a:r>
              <a:rPr sz="1700" b="1" dirty="0">
                <a:solidFill>
                  <a:srgbClr val="3069A0"/>
                </a:solidFill>
                <a:latin typeface="Times New Roman"/>
              </a:rPr>
              <a:t>2. Customers</a:t>
            </a:r>
          </a:p>
          <a:p>
            <a:pPr>
              <a:spcAft>
                <a:spcPts val="200"/>
              </a:spcAft>
            </a:pPr>
            <a:r>
              <a:rPr sz="1400" b="0" dirty="0">
                <a:solidFill>
                  <a:srgbClr val="282D32"/>
                </a:solidFill>
                <a:latin typeface="Times New Roman"/>
              </a:rPr>
              <a:t>They may experience inconsistent product satisfaction and delivery outcomes.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0" dirty="0">
                <a:solidFill>
                  <a:srgbClr val="64696E"/>
                </a:solidFill>
                <a:latin typeface="Times New Roman"/>
              </a:rPr>
              <a:t>Useful next step: Use findings to improve the customer experience without unfairly targeting customers.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18688"/>
            <a:ext cx="5349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bIns="91440" rtlCol="0" anchor="ctr"/>
          <a:lstStyle/>
          <a:p>
            <a:pPr algn="ctr">
              <a:spcAft>
                <a:spcPts val="600"/>
              </a:spcAft>
            </a:pPr>
            <a:r>
              <a:rPr sz="1700" b="1" dirty="0">
                <a:solidFill>
                  <a:srgbClr val="3069A0"/>
                </a:solidFill>
                <a:latin typeface="Times New Roman"/>
              </a:rPr>
              <a:t>3. Warehouse and logistics teams</a:t>
            </a:r>
          </a:p>
          <a:p>
            <a:pPr>
              <a:spcAft>
                <a:spcPts val="200"/>
              </a:spcAft>
            </a:pPr>
            <a:r>
              <a:rPr sz="1400" b="0" dirty="0">
                <a:solidFill>
                  <a:srgbClr val="282D32"/>
                </a:solidFill>
                <a:latin typeface="Times New Roman"/>
              </a:rPr>
              <a:t>They face increasing strain from processing product returns.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0" dirty="0">
                <a:solidFill>
                  <a:srgbClr val="64696E"/>
                </a:solidFill>
                <a:latin typeface="Times New Roman"/>
              </a:rPr>
              <a:t>Useful next step: Use better forecasts to plan capacity, staffing and return handling.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3218688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bIns="91440" rtlCol="0" anchor="ctr"/>
          <a:lstStyle/>
          <a:p>
            <a:pPr algn="ctr">
              <a:spcAft>
                <a:spcPts val="600"/>
              </a:spcAft>
            </a:pPr>
            <a:r>
              <a:rPr sz="1700" b="1" dirty="0">
                <a:solidFill>
                  <a:srgbClr val="3069A0"/>
                </a:solidFill>
                <a:latin typeface="Times New Roman"/>
              </a:rPr>
              <a:t>4. Sales and marketing teams</a:t>
            </a:r>
          </a:p>
          <a:p>
            <a:pPr>
              <a:spcAft>
                <a:spcPts val="200"/>
              </a:spcAft>
            </a:pPr>
            <a:r>
              <a:rPr sz="1400" b="0" dirty="0">
                <a:solidFill>
                  <a:srgbClr val="282D32"/>
                </a:solidFill>
                <a:latin typeface="Times New Roman"/>
              </a:rPr>
              <a:t>They need insights into high-return products to inform reorder and marketing decisions.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0" dirty="0">
                <a:solidFill>
                  <a:srgbClr val="64696E"/>
                </a:solidFill>
                <a:latin typeface="Times New Roman"/>
              </a:rPr>
              <a:t>Useful next step: Review product-level patterns before changing pricing, promotion or reorder plans.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956048"/>
            <a:ext cx="10780776" cy="1143000"/>
          </a:xfrm>
          <a:prstGeom prst="roundRect">
            <a:avLst/>
          </a:prstGeom>
          <a:solidFill>
            <a:srgbClr val="EBF2F9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82880" bIns="73152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3046"/>
                </a:solidFill>
                <a:latin typeface="Times New Roman"/>
              </a:rPr>
              <a:t>Data science experts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82D32"/>
                </a:solidFill>
                <a:latin typeface="Times New Roman"/>
              </a:rPr>
              <a:t>The June ROC-AUC of 0.533 and return precision of 18.6% show that the model needs improvement. Further work: verify return labels, test additional features and alternative models, assess threshold trade-offs, and evaluate on later unseen data before operational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696E"/>
                </a:solidFill>
                <a:latin typeface="Times New Roman"/>
              </a:rPr>
              <a:t>STADIOALOT  •  CAP182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881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D7478"/>
                </a:solidFill>
                <a:latin typeface="Times New Roman"/>
              </a:rPr>
              <a:t>01 • 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1F3046"/>
                </a:solidFill>
                <a:latin typeface="Times New Roman"/>
              </a:rPr>
              <a:t>Business context &amp; core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7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56248"/>
            <a:ext cx="108813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4696E"/>
                </a:solidFill>
                <a:latin typeface="Times New Roman"/>
              </a:rPr>
              <a:t>STADIOALOT  •  CAP182  |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700" b="1" i="0">
                <a:solidFill>
                  <a:srgbClr val="2D7478"/>
                </a:solidFill>
                <a:latin typeface="Times New Roman"/>
              </a:rPr>
              <a:t>R38M annual revenue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2A3036"/>
                </a:solidFill>
                <a:latin typeface="Times New Roman"/>
              </a:rPr>
              <a:t>54% from retail sales; 27% from the marketing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1732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700" b="1" i="0">
                <a:solidFill>
                  <a:srgbClr val="CDA04E"/>
                </a:solidFill>
                <a:latin typeface="Times New Roman"/>
              </a:rPr>
              <a:t>Returns are rising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2A3036"/>
                </a:solidFill>
                <a:latin typeface="Times New Roman"/>
              </a:rPr>
              <a:t>Reported return rate increased from 22% (2025) to 29% (2026).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7575" y="141732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700" b="1" i="0">
                <a:solidFill>
                  <a:srgbClr val="2D7478"/>
                </a:solidFill>
                <a:latin typeface="Times New Roman"/>
              </a:rPr>
              <a:t>Business impact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2A3036"/>
                </a:solidFill>
                <a:latin typeface="Times New Roman"/>
              </a:rPr>
              <a:t>Lower retail margins and higher warehouse costs.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106070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1800" b="1" i="0">
                <a:solidFill>
                  <a:srgbClr val="1F3046"/>
                </a:solidFill>
                <a:latin typeface="Times New Roman"/>
              </a:rPr>
              <a:t>Current gap: the business cannot reliably identify which products/orders will be returned.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10241280" cy="2514600"/>
          </a:xfrm>
          <a:prstGeom prst="rect">
            <a:avLst/>
          </a:prstGeom>
          <a:noFill/>
        </p:spPr>
        <p:txBody>
          <a:bodyPr wrap="square" lIns="54864" tIns="36576" rIns="73152" bIns="18288" anchor="t">
            <a:spAutoFit/>
          </a:bodyPr>
          <a:lstStyle/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Flag high-risk products before shipping.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Alert Sales to products with high return risk and support reorder decisions.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Adjust pricing or marketing for high-return products.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Plan warehouse space and inventory around expected returns.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Reduce inventory obsolescence linked to expected returns.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881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D7478"/>
                </a:solidFill>
                <a:latin typeface="Times New Roman"/>
              </a:rPr>
              <a:t>02 • PROJECT 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1F3046"/>
                </a:solidFill>
                <a:latin typeface="Times New Roman"/>
              </a:rPr>
              <a:t>Objective &amp; industry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7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56248"/>
            <a:ext cx="108813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4696E"/>
                </a:solidFill>
                <a:latin typeface="Times New Roman"/>
              </a:rPr>
              <a:t>STADIOALOT  •  CAP182  |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700" b="1" i="0">
                <a:solidFill>
                  <a:srgbClr val="2D7478"/>
                </a:solidFill>
                <a:latin typeface="Times New Roman"/>
              </a:rPr>
              <a:t>Project objective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2A3036"/>
                </a:solidFill>
                <a:latin typeface="Times New Roman"/>
              </a:rPr>
              <a:t>Reduce avoidable returns, improve customer satisfaction, and support inventory and warehouse planning—without harming the customer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700" b="1" i="0">
                <a:solidFill>
                  <a:srgbClr val="CDA04E"/>
                </a:solidFill>
                <a:latin typeface="Times New Roman"/>
              </a:rPr>
              <a:t>Industry context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2A3036"/>
                </a:solidFill>
                <a:latin typeface="Times New Roman"/>
              </a:rPr>
              <a:t>Online retailers are using historical data and classification models to identify patterns associated with returns.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10332720" cy="2377440"/>
          </a:xfrm>
          <a:prstGeom prst="rect">
            <a:avLst/>
          </a:prstGeom>
          <a:noFill/>
        </p:spPr>
        <p:txBody>
          <a:bodyPr wrap="square" lIns="54864" tIns="36576" rIns="73152" bIns="18288" anchor="t">
            <a:spAutoFit/>
          </a:bodyPr>
          <a:lstStyle/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Retailers face higher-than-expected returns from online purchases.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Data-driven methods can help retailers take a more proactive approach.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Models mentioned in the project context include Logistic Regression, Random Forest and XGBoost.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The intended use is to monitor return risk and support better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881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D7478"/>
                </a:solidFill>
                <a:latin typeface="Times New Roman"/>
              </a:rPr>
              <a:t>03 • SOURCE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1F3046"/>
                </a:solidFill>
                <a:latin typeface="Times New Roman"/>
              </a:rPr>
              <a:t>Data overview &amp; key limitation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7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56248"/>
            <a:ext cx="108813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4696E"/>
                </a:solidFill>
                <a:latin typeface="Times New Roman"/>
              </a:rPr>
              <a:t>STADIOALOT  •  CAP182  | 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 lIns="54864" tIns="36576" rIns="73152" bIns="18288" anchor="t">
            <a:spAutoFit/>
          </a:bodyPr>
          <a:lstStyle/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Five synthetic Stadioalot datasets were provided: sales/returns, customer reviews, deliveries, inventory and return policies.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Sales/returns: 2,760 rows × 9 columns; reviews: 3,882 × 6; deliveries: 14,043 × 8.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Inventory: 1,390 × 9; return policies: 8 × 6.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The sales/returns table contains only returned orders, so it cannot alone represent both returned and non-returned outcomes.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The delivery table was used as the broader population and a return flag was derived by matching Order IDs to the returns table.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Important limitation: if the delivery table does not fully specify return outcomes, some orders may be labelled as non-returned incorrectly.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881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D7478"/>
                </a:solidFill>
                <a:latin typeface="Times New Roman"/>
              </a:rPr>
              <a:t>04 • CLEANING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1F3046"/>
                </a:solidFill>
                <a:latin typeface="Times New Roman"/>
              </a:rPr>
              <a:t>Data preparation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7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56248"/>
            <a:ext cx="108813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4696E"/>
                </a:solidFill>
                <a:latin typeface="Times New Roman"/>
              </a:rPr>
              <a:t>STADIOALOT  •  CAP182  | 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 lIns="54864" tIns="36576" rIns="73152" bIns="18288" anchor="t">
            <a:spAutoFit/>
          </a:bodyPr>
          <a:lstStyle/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Loaded and inspected all five datasets; checked dimensions and missing values.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Standardised column names: lowercase, trimmed whitespace, and replaced spaces/special characters with underscores.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Cleaned text and categorical values to reduce inconsistent labels.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Filled missing refund methods with “Other”.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Filled missing review text using the most common review for the corresponding star rating.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Imputed missing actual delivery dates using each courier’s average delay.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Removed inventory records missing expiration 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881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D7478"/>
                </a:solidFill>
                <a:latin typeface="Times New Roman"/>
              </a:rPr>
              <a:t>04 •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1F3046"/>
                </a:solidFill>
                <a:latin typeface="Times New Roman"/>
              </a:rPr>
              <a:t>Data preparation &amp; modelling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7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56248"/>
            <a:ext cx="108813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4696E"/>
                </a:solidFill>
                <a:latin typeface="Times New Roman"/>
              </a:rPr>
              <a:t>STADIOALOT  •  CAP182  | 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53312"/>
            <a:ext cx="10515600" cy="4983480"/>
          </a:xfrm>
          <a:prstGeom prst="rect">
            <a:avLst/>
          </a:prstGeom>
          <a:noFill/>
        </p:spPr>
        <p:txBody>
          <a:bodyPr wrap="square" lIns="54864" tIns="36576" rIns="73152" bIns="18288" anchor="t">
            <a:spAutoFit/>
          </a:bodyPr>
          <a:lstStyle/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Standardised data types; kept IDs as strings and converted dates, numeric fields and Boolean values.</a:t>
            </a:r>
          </a:p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Checked date quality, removed records with invalid review dates, and filled missing dispatch dates with expected delivery date minus three days where possible.</a:t>
            </a:r>
          </a:p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Removed duplicate delivery records and created `return_flag` by matching normalised Order IDs.</a:t>
            </a:r>
          </a:p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Saved prepared datasets as CSV files with `preprocessed_` or `imputed_` prefixes.</a:t>
            </a:r>
          </a:p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Filtered delivered orders from January–June 2026 and engineered transit, delay, calendar and region features.</a:t>
            </a:r>
          </a:p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Split chronologically: January–April training, May validation, June unseen test.</a:t>
            </a:r>
          </a:p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Pipeline: median imputation for numerical fields, mode imputation and one-hot encoding for categorical fields, followed by Random Forest classification.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881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D7478"/>
                </a:solidFill>
                <a:latin typeface="Times New Roman"/>
              </a:rPr>
              <a:t>05 • KEY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1F3046"/>
                </a:solidFill>
                <a:latin typeface="Times New Roman"/>
              </a:rPr>
              <a:t>What signals mattered most?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7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56248"/>
            <a:ext cx="108813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4696E"/>
                </a:solidFill>
                <a:latin typeface="Times New Roman"/>
              </a:rPr>
              <a:t>STADIOALOT  •  CAP182  |  08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3393"/>
            <a:ext cx="6400800" cy="38369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554480"/>
            <a:ext cx="4160520" cy="4480560"/>
          </a:xfrm>
          <a:prstGeom prst="rect">
            <a:avLst/>
          </a:prstGeom>
          <a:noFill/>
        </p:spPr>
        <p:txBody>
          <a:bodyPr wrap="square" lIns="54864" tIns="36576" rIns="73152" bIns="18288" anchor="t">
            <a:spAutoFit/>
          </a:bodyPr>
          <a:lstStyle/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Delivery lateness: 23.5% of feature importance.</a:t>
            </a:r>
          </a:p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Transit hours: 18.6%; planned transit days: 11.5%.</a:t>
            </a:r>
          </a:p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Dispatch hour (9.9%), weekday (6.7%) and late flag (6.2%) also contributed.</a:t>
            </a:r>
          </a:p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Region and courier categories had much smaller importance scores.</a:t>
            </a:r>
          </a:p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Important: importance shows predictive contribution, not whether lateness increases or decreases return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881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D7478"/>
                </a:solidFill>
                <a:latin typeface="Times New Roman"/>
              </a:rPr>
              <a:t>06 • 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1F3046"/>
                </a:solidFill>
                <a:latin typeface="Times New Roman"/>
              </a:rPr>
              <a:t>How did the model perform over time?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7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56248"/>
            <a:ext cx="108813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4696E"/>
                </a:solidFill>
                <a:latin typeface="Times New Roman"/>
              </a:rPr>
              <a:t>STADIOALOT  •  CAP182  |  09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72491"/>
            <a:ext cx="6400800" cy="3461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737360"/>
            <a:ext cx="4160520" cy="4023360"/>
          </a:xfrm>
          <a:prstGeom prst="rect">
            <a:avLst/>
          </a:prstGeom>
          <a:noFill/>
        </p:spPr>
        <p:txBody>
          <a:bodyPr wrap="square" lIns="54864" tIns="36576" rIns="73152" bIns="18288" anchor="t">
            <a:spAutoFit/>
          </a:bodyPr>
          <a:lstStyle/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Accuracy: 55.0% training, 54.9% validation, 56.9% June test.</a:t>
            </a:r>
          </a:p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Return recall fell from 76.0% in training to 44.8% in June.</a:t>
            </a:r>
          </a:p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June ROC-AUC was 0.533, indicating weak separation between returned and non-returned orders.</a:t>
            </a:r>
          </a:p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Similar accuracy scores do not, by themselves, prove the model is reliable.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881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D7478"/>
                </a:solidFill>
                <a:latin typeface="Times New Roman"/>
              </a:rPr>
              <a:t>07 • READING THE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1F3046"/>
                </a:solidFill>
                <a:latin typeface="Times New Roman"/>
              </a:rPr>
              <a:t>What happened on the June test set?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7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56248"/>
            <a:ext cx="108813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4696E"/>
                </a:solidFill>
                <a:latin typeface="Times New Roman"/>
              </a:rPr>
              <a:t>STADIOALOT  •  CAP182  |  10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77339"/>
            <a:ext cx="5669280" cy="4251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600200"/>
            <a:ext cx="4160520" cy="4434840"/>
          </a:xfrm>
          <a:prstGeom prst="rect">
            <a:avLst/>
          </a:prstGeom>
          <a:noFill/>
        </p:spPr>
        <p:txBody>
          <a:bodyPr wrap="square" lIns="54864" tIns="36576" rIns="73152" bIns="18288" anchor="t">
            <a:spAutoFit/>
          </a:bodyPr>
          <a:lstStyle/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1,031 non-returned orders correctly identified.</a:t>
            </a:r>
          </a:p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161 returned orders correctly identified.</a:t>
            </a:r>
          </a:p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704 non-returned orders incorrectly flagged as returns.</a:t>
            </a:r>
          </a:p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198 returned orders were missed.</a:t>
            </a:r>
          </a:p>
          <a:p>
            <a:pPr>
              <a:buChar char="•"/>
              <a:defRPr sz="15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The model caught 44.8% of actual returns; only 161 of 865 predicted returns were actual returns.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881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D7478"/>
                </a:solidFill>
                <a:latin typeface="Times New Roman"/>
              </a:rPr>
              <a:t>08 • 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1F3046"/>
                </a:solidFill>
                <a:latin typeface="Times New Roman"/>
              </a:rPr>
              <a:t>Why Random Forest?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7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56248"/>
            <a:ext cx="108813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4696E"/>
                </a:solidFill>
                <a:latin typeface="Times New Roman"/>
              </a:rPr>
              <a:t>STADIOALOT  •  CAP182  |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5029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700" b="1" i="0">
                <a:solidFill>
                  <a:srgbClr val="2D7478"/>
                </a:solidFill>
                <a:latin typeface="Times New Roman"/>
              </a:rPr>
              <a:t>Comparison in SS1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2A3036"/>
                </a:solidFill>
                <a:latin typeface="Times New Roman"/>
              </a:rPr>
              <a:t>Random Forest was reported as outperforming Logistic Regression on the earlier test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029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700" b="1" i="0">
                <a:solidFill>
                  <a:srgbClr val="CDA04E"/>
                </a:solidFill>
                <a:latin typeface="Times New Roman"/>
              </a:rPr>
              <a:t>Earlier reported results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2A3036"/>
                </a:solidFill>
                <a:latin typeface="Times New Roman"/>
              </a:rPr>
              <a:t>Accuracy 62.90% • Precision 59.73% • Recall 58.38% • F1 59.05% • ROC-AUC 0.6844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241280" cy="2651760"/>
          </a:xfrm>
          <a:prstGeom prst="rect">
            <a:avLst/>
          </a:prstGeom>
          <a:noFill/>
        </p:spPr>
        <p:txBody>
          <a:bodyPr wrap="square" lIns="54864" tIns="36576" rIns="73152" bIns="18288" anchor="t">
            <a:spAutoFit/>
          </a:bodyPr>
          <a:lstStyle/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Random Forest combines many decision trees rather than relying on one tree.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Each tree considers a random subset of features, allowing different patterns to be learned.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The trees’ votes are aggregated to produce a classification.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The model was selected for its better performance than Logistic Regression in the earlier comparison.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Note: the earlier SS1 results are separate from the later January–June model evaluation shown in this presentation.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881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D7478"/>
                </a:solidFill>
                <a:latin typeface="Times New Roman"/>
              </a:rPr>
              <a:t>09 • WHAT THE RESULTS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1F3046"/>
                </a:solidFill>
                <a:latin typeface="Times New Roman"/>
              </a:rPr>
              <a:t>Results: strengths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7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56248"/>
            <a:ext cx="108813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4696E"/>
                </a:solidFill>
                <a:latin typeface="Times New Roman"/>
              </a:rPr>
              <a:t>STADIOALOT  •  CAP182  |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700" b="1" i="0">
                <a:solidFill>
                  <a:srgbClr val="2D7478"/>
                </a:solidFill>
                <a:latin typeface="Times New Roman"/>
              </a:rPr>
              <a:t>Overall accuracy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2A3036"/>
                </a:solidFill>
                <a:latin typeface="Times New Roman"/>
              </a:rPr>
              <a:t>55%–57% across the evaluated periods.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1732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700" b="1" i="0">
                <a:solidFill>
                  <a:srgbClr val="CDA04E"/>
                </a:solidFill>
                <a:latin typeface="Times New Roman"/>
              </a:rPr>
              <a:t>June return recall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2A3036"/>
                </a:solidFill>
                <a:latin typeface="Times New Roman"/>
              </a:rPr>
              <a:t>44.8% of actual returns detected.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1856" y="141732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700" b="1" i="0">
                <a:solidFill>
                  <a:srgbClr val="2D7478"/>
                </a:solidFill>
                <a:latin typeface="Times New Roman"/>
              </a:rPr>
              <a:t>June precision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2A3036"/>
                </a:solidFill>
                <a:latin typeface="Times New Roman"/>
              </a:rPr>
              <a:t>18.6% of predicted returns were actual returns.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10424160" cy="2971800"/>
          </a:xfrm>
          <a:prstGeom prst="rect">
            <a:avLst/>
          </a:prstGeom>
          <a:noFill/>
        </p:spPr>
        <p:txBody>
          <a:bodyPr wrap="square" lIns="54864" tIns="36576" rIns="73152" bIns="18288" anchor="t">
            <a:spAutoFit/>
          </a:bodyPr>
          <a:lstStyle/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The model’s accuracy is relatively consistent across training, validation and June test data.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On unseen June data, it missed 198 of 359 actual returns—more than half.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It generated 704 false positives, so many flagged orders were not recorded as returns.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The model is not yet strong enough to be treated as a dependable return-risk decision-maker.</a:t>
            </a:r>
          </a:p>
          <a:p>
            <a:pPr>
              <a:buChar char="•"/>
              <a:defRPr sz="1600" b="0">
                <a:solidFill>
                  <a:srgbClr val="2A3036"/>
                </a:solidFill>
                <a:latin typeface="Times New Roman"/>
              </a:defRPr>
            </a:pPr>
            <a:r>
              <a:rPr sz="1600">
                <a:solidFill/>
                <a:latin typeface="Times New Roman"/>
              </a:rPr>
              <a:t>The quality of the return labels is a key concern because they were derived by matching Order IDs across the supplied datasets.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10881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D7478"/>
                </a:solidFill>
                <a:latin typeface="Times New Roman"/>
              </a:rPr>
              <a:t>10 •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>
                <a:solidFill>
                  <a:srgbClr val="1F3046"/>
                </a:solidFill>
                <a:latin typeface="Times New Roman"/>
              </a:rPr>
              <a:t>Recommendation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7D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56248"/>
            <a:ext cx="108813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64696E"/>
                </a:solidFill>
                <a:latin typeface="Times New Roman"/>
              </a:rPr>
              <a:t>STADIOALOT  •  CAP182  |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424160" cy="1778949"/>
          </a:xfrm>
          <a:prstGeom prst="rect">
            <a:avLst/>
          </a:prstGeom>
          <a:noFill/>
        </p:spPr>
        <p:txBody>
          <a:bodyPr wrap="square" lIns="54864" tIns="36576" rIns="73152" bIns="18288" anchor="t">
            <a:spAutoFit/>
          </a:bodyPr>
          <a:lstStyle/>
          <a:p>
            <a:pPr>
              <a:buChar char="•"/>
              <a:defRPr sz="1700" b="0">
                <a:solidFill>
                  <a:srgbClr val="2A3036"/>
                </a:solidFill>
                <a:latin typeface="Times New Roman"/>
              </a:defRPr>
            </a:pPr>
            <a:r>
              <a:rPr sz="1600" dirty="0">
                <a:solidFill/>
                <a:latin typeface="Times New Roman"/>
              </a:rPr>
              <a:t>Treat the current Random Forest as an exploratory model, not a fully reliable operational decision tool.</a:t>
            </a:r>
          </a:p>
          <a:p>
            <a:pPr>
              <a:buChar char="•"/>
              <a:defRPr sz="1700" b="0">
                <a:solidFill>
                  <a:srgbClr val="2A3036"/>
                </a:solidFill>
                <a:latin typeface="Times New Roman"/>
              </a:defRPr>
            </a:pPr>
            <a:r>
              <a:rPr sz="1600" dirty="0">
                <a:solidFill/>
                <a:latin typeface="Times New Roman"/>
              </a:rPr>
              <a:t>Review the return-flag construction and confirm that non-returned orders are correctly labelled.</a:t>
            </a:r>
          </a:p>
          <a:p>
            <a:pPr>
              <a:buChar char="•"/>
              <a:defRPr sz="1700" b="0">
                <a:solidFill>
                  <a:srgbClr val="2A3036"/>
                </a:solidFill>
                <a:latin typeface="Times New Roman"/>
              </a:defRPr>
            </a:pPr>
            <a:r>
              <a:rPr sz="1600" dirty="0">
                <a:solidFill/>
                <a:latin typeface="Times New Roman"/>
              </a:rPr>
              <a:t>Test a lower decision threshold than 0.48 to see whether more actual returns can be identified.</a:t>
            </a:r>
          </a:p>
          <a:p>
            <a:pPr>
              <a:buChar char="•"/>
              <a:defRPr sz="1700" b="0">
                <a:solidFill>
                  <a:srgbClr val="2A3036"/>
                </a:solidFill>
                <a:latin typeface="Times New Roman"/>
              </a:defRPr>
            </a:pPr>
            <a:r>
              <a:rPr sz="1600" dirty="0">
                <a:solidFill/>
                <a:latin typeface="Times New Roman"/>
              </a:rPr>
              <a:t>Compare the trade-off: higher return recall may also increase false alarms.</a:t>
            </a:r>
          </a:p>
          <a:p>
            <a:pPr>
              <a:buChar char="•"/>
              <a:defRPr sz="1700" b="0">
                <a:solidFill>
                  <a:srgbClr val="2A3036"/>
                </a:solidFill>
                <a:latin typeface="Times New Roman"/>
              </a:defRPr>
            </a:pPr>
            <a:r>
              <a:rPr sz="1600" dirty="0">
                <a:solidFill/>
                <a:latin typeface="Times New Roman"/>
              </a:rPr>
              <a:t>Re-evaluate accuracy, precision, recall, F1-score and ROC-AUC on unseen data after each change.</a:t>
            </a:r>
          </a:p>
          <a:p>
            <a:pPr>
              <a:buChar char="•"/>
              <a:defRPr sz="1700" b="0">
                <a:solidFill>
                  <a:srgbClr val="2A3036"/>
                </a:solidFill>
                <a:latin typeface="Times New Roman"/>
              </a:defRPr>
            </a:pPr>
            <a:r>
              <a:rPr sz="1600" dirty="0">
                <a:solidFill/>
                <a:latin typeface="Times New Roman"/>
              </a:rPr>
              <a:t>Use the strongest current signal</a:t>
            </a:r>
            <a:r>
              <a:rPr lang="en-US" sz="1600" dirty="0">
                <a:solidFill/>
                <a:latin typeface="Times New Roman"/>
              </a:rPr>
              <a:t> </a:t>
            </a:r>
            <a:r>
              <a:rPr sz="1600" dirty="0">
                <a:solidFill/>
                <a:latin typeface="Times New Roman"/>
              </a:rPr>
              <a:t>delivery timing/</a:t>
            </a:r>
            <a:r>
              <a:rPr lang="en-US" sz="1600" dirty="0">
                <a:solidFill/>
                <a:latin typeface="Times New Roman"/>
              </a:rPr>
              <a:t> </a:t>
            </a:r>
            <a:r>
              <a:rPr sz="1600" dirty="0">
                <a:solidFill/>
                <a:latin typeface="Times New Roman"/>
              </a:rPr>
              <a:t>lateness</a:t>
            </a:r>
            <a:r>
              <a:rPr lang="en-US" sz="1600" dirty="0">
                <a:solidFill/>
                <a:latin typeface="Times New Roman"/>
              </a:rPr>
              <a:t> </a:t>
            </a:r>
            <a:r>
              <a:rPr sz="1600" dirty="0">
                <a:solidFill/>
                <a:latin typeface="Times New Roman"/>
              </a:rPr>
              <a:t>as a starting point for further analysis, without assuming it causes returns.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1413</Words>
  <Application>Microsoft Macintosh PowerPoint</Application>
  <PresentationFormat>Widescreen</PresentationFormat>
  <Paragraphs>135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Auguste Nuunyango</cp:lastModifiedBy>
  <cp:revision>2</cp:revision>
  <dcterms:created xsi:type="dcterms:W3CDTF">2013-01-27T09:14:16Z</dcterms:created>
  <dcterms:modified xsi:type="dcterms:W3CDTF">2026-10-29T22:48:41Z</dcterms:modified>
  <cp:category/>
</cp:coreProperties>
</file>